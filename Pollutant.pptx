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2" r:id="rId2"/>
    <p:sldId id="256" r:id="rId3"/>
    <p:sldId id="257" r:id="rId4"/>
    <p:sldId id="258" r:id="rId5"/>
    <p:sldId id="259" r:id="rId6"/>
    <p:sldId id="276" r:id="rId7"/>
    <p:sldId id="260" r:id="rId8"/>
    <p:sldId id="261" r:id="rId9"/>
    <p:sldId id="262" r:id="rId10"/>
    <p:sldId id="263" r:id="rId11"/>
    <p:sldId id="275" r:id="rId12"/>
    <p:sldId id="278" r:id="rId13"/>
    <p:sldId id="279" r:id="rId14"/>
    <p:sldId id="264" r:id="rId15"/>
    <p:sldId id="274" r:id="rId16"/>
    <p:sldId id="265" r:id="rId17"/>
    <p:sldId id="266" r:id="rId18"/>
    <p:sldId id="267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01" autoAdjust="0"/>
  </p:normalViewPr>
  <p:slideViewPr>
    <p:cSldViewPr snapToGrid="0" snapToObjects="1">
      <p:cViewPr varScale="1">
        <p:scale>
          <a:sx n="67" d="100"/>
          <a:sy n="67" d="100"/>
        </p:scale>
        <p:origin x="6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04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77D00-593D-DC75-A1A0-033CA852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D9599-865A-6204-8309-934FCCB7D4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110F4-6EEC-4991-AA27-646E1BDFD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081BA-EF2F-49A6-F9E1-F73785C57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987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78DA07-232A-293D-258F-4E08C5A49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ABFA0-533A-3EFD-91F5-01A15ACE6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562" y="3927565"/>
            <a:ext cx="3259274" cy="205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1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8FE1D3A-E122-F56C-2035-80947DF4C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783" y="0"/>
            <a:ext cx="4888179" cy="212140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CRITERIA POLLUTANT ·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6835358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dirty="0">
                <a:solidFill>
                  <a:srgbClr val="222A2E"/>
                </a:solidFill>
                <a:latin typeface="Cambria"/>
              </a:rPr>
              <a:t>Ground-Level Ozone (O₃): What It Is</a:t>
            </a:r>
            <a:r>
              <a:rPr lang="en-US" sz="3100" b="1" i="0" dirty="0">
                <a:solidFill>
                  <a:srgbClr val="222A2E"/>
                </a:solidFill>
                <a:latin typeface="Cambria"/>
              </a:rPr>
              <a:t>?</a:t>
            </a:r>
            <a:endParaRPr sz="3100" b="1" i="0" dirty="0">
              <a:solidFill>
                <a:srgbClr val="222A2E"/>
              </a:solidFill>
              <a:latin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5623560" cy="4553712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7393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4149"/>
                </a:solidFill>
                <a:latin typeface="Cambria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49424"/>
            <a:ext cx="510235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F5C66"/>
                </a:solidFill>
                <a:latin typeface="Calibri"/>
              </a:rPr>
              <a:t>–  </a:t>
            </a:r>
            <a:r>
              <a:rPr sz="1350" b="1">
                <a:solidFill>
                  <a:srgbClr val="222A2E"/>
                </a:solidFill>
                <a:latin typeface="Calibri"/>
              </a:rPr>
              <a:t>Molecule.  </a:t>
            </a:r>
            <a:r>
              <a:rPr sz="1350">
                <a:solidFill>
                  <a:srgbClr val="333A3D"/>
                </a:solidFill>
                <a:latin typeface="Calibri"/>
              </a:rPr>
              <a:t>A triatomic allotrope of oxygen (O₃): three oxygen atoms in a bent, resonance-stabilized structure; a pale-blue, pungent, strongly oxidizing gas.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F5C66"/>
                </a:solidFill>
                <a:latin typeface="Calibri"/>
              </a:rPr>
              <a:t>–  </a:t>
            </a:r>
            <a:r>
              <a:rPr sz="1350" b="1">
                <a:solidFill>
                  <a:srgbClr val="222A2E"/>
                </a:solidFill>
                <a:latin typeface="Calibri"/>
              </a:rPr>
              <a:t>Same molecule, two roles.  </a:t>
            </a:r>
            <a:r>
              <a:rPr sz="1350">
                <a:solidFill>
                  <a:srgbClr val="333A3D"/>
                </a:solidFill>
                <a:latin typeface="Calibri"/>
              </a:rPr>
              <a:t>Stratospheric ozone shields the biosphere from UV. Tropospheric (ground-level) ozone is a harmful air pollutant and short-lived climate forcer.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F5C66"/>
                </a:solidFill>
                <a:latin typeface="Calibri"/>
              </a:rPr>
              <a:t>–  </a:t>
            </a:r>
            <a:r>
              <a:rPr sz="1350" b="1">
                <a:solidFill>
                  <a:srgbClr val="222A2E"/>
                </a:solidFill>
                <a:latin typeface="Calibri"/>
              </a:rPr>
              <a:t>Secondary pollutant.  </a:t>
            </a:r>
            <a:r>
              <a:rPr sz="1350">
                <a:solidFill>
                  <a:srgbClr val="333A3D"/>
                </a:solidFill>
                <a:latin typeface="Calibri"/>
              </a:rPr>
              <a:t>Not emitted directly in significant quantities — it forms in the lower atmosphere from precursor emissions reacting under sunlight.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F5C66"/>
                </a:solidFill>
                <a:latin typeface="Calibri"/>
              </a:rPr>
              <a:t>–  </a:t>
            </a:r>
            <a:r>
              <a:rPr sz="1350" b="1">
                <a:solidFill>
                  <a:srgbClr val="222A2E"/>
                </a:solidFill>
                <a:latin typeface="Calibri"/>
              </a:rPr>
              <a:t>Photochemical oxidant.  </a:t>
            </a:r>
            <a:r>
              <a:rPr sz="1350">
                <a:solidFill>
                  <a:srgbClr val="333A3D"/>
                </a:solidFill>
                <a:latin typeface="Calibri"/>
              </a:rPr>
              <a:t>The principal component of photochemical smog and a powerful respiratory irritant.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269463"/>
            <a:ext cx="5193792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2552" y="2452343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4149"/>
                </a:solidFill>
                <a:latin typeface="Cambria"/>
              </a:rPr>
              <a:t>Why it is a “criteria” pollutant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2891255"/>
            <a:ext cx="468172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dirty="0">
                <a:solidFill>
                  <a:srgbClr val="0F5C66"/>
                </a:solidFill>
                <a:latin typeface="Calibri"/>
              </a:rPr>
              <a:t>–  </a:t>
            </a:r>
            <a:r>
              <a:rPr sz="1250" dirty="0">
                <a:solidFill>
                  <a:srgbClr val="333A3D"/>
                </a:solidFill>
                <a:latin typeface="Calibri"/>
              </a:rPr>
              <a:t>One of six criteria pollutants under the U.S. Clean Air Act (with PM, CO, SO₂, NO₂, Pb).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dirty="0">
                <a:solidFill>
                  <a:srgbClr val="0F5C66"/>
                </a:solidFill>
                <a:latin typeface="Calibri"/>
              </a:rPr>
              <a:t>–  </a:t>
            </a:r>
            <a:r>
              <a:rPr sz="1250" dirty="0">
                <a:solidFill>
                  <a:srgbClr val="333A3D"/>
                </a:solidFill>
                <a:latin typeface="Calibri"/>
              </a:rPr>
              <a:t>EPA must set National Ambient Air Quality Standards (NAAQS) using published “criteria” documenting health and welfare effects.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4512780"/>
            <a:ext cx="2505456" cy="2249424"/>
          </a:xfrm>
          <a:prstGeom prst="rect">
            <a:avLst/>
          </a:prstGeom>
          <a:solidFill>
            <a:srgbClr val="ECF1F1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4695660"/>
            <a:ext cx="2084831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378"/>
                </a:solidFill>
                <a:latin typeface="Calibri"/>
              </a:rPr>
              <a:t>PRIMARY POLLUTANT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A3D"/>
                </a:solidFill>
                <a:latin typeface="Calibri"/>
              </a:rPr>
              <a:t>Emitted directly from a source.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B7378"/>
                </a:solidFill>
                <a:latin typeface="Calibri"/>
              </a:rPr>
              <a:t>e.g. NO, CO, SO₂, primary PM.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4856" y="4512792"/>
            <a:ext cx="2505456" cy="2249424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54312" y="4695672"/>
            <a:ext cx="2084831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FE3E4"/>
                </a:solidFill>
                <a:latin typeface="Calibri"/>
              </a:rPr>
              <a:t>SECONDARY POLLUTANT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Formed in the atmosphere by reaction of precursors.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FFFFFF"/>
                </a:solidFill>
                <a:latin typeface="Calibri"/>
              </a:rPr>
              <a:t>O₃ is the archetype.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U.S. EPA, Ground-level Ozone Basics; Clean Air Act §§108–109; 40 CFR Part 50.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SOURCES &amp;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How Ozone Forms: Precursors + Sunlight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91640"/>
            <a:ext cx="2880360" cy="1051560"/>
          </a:xfrm>
          <a:prstGeom prst="rect">
            <a:avLst/>
          </a:prstGeom>
          <a:solidFill>
            <a:srgbClr val="F4F7F7"/>
          </a:solidFill>
          <a:ln w="12700">
            <a:solidFill>
              <a:srgbClr val="9FB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80136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4149"/>
                </a:solidFill>
                <a:latin typeface="Cambria"/>
              </a:rPr>
              <a:t>NOₓ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2A2E"/>
                </a:solidFill>
                <a:latin typeface="Calibri"/>
              </a:rPr>
              <a:t>Nitrogen oxides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378"/>
                </a:solidFill>
                <a:latin typeface="Calibri"/>
              </a:rPr>
              <a:t>Vehicles, power plants,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926080"/>
            <a:ext cx="2880360" cy="1051560"/>
          </a:xfrm>
          <a:prstGeom prst="rect">
            <a:avLst/>
          </a:prstGeom>
          <a:solidFill>
            <a:srgbClr val="F4F7F7"/>
          </a:solidFill>
          <a:ln w="12700">
            <a:solidFill>
              <a:srgbClr val="9FB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303580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4149"/>
                </a:solidFill>
                <a:latin typeface="Cambria"/>
              </a:rPr>
              <a:t>VOCs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22A2E"/>
                </a:solidFill>
                <a:latin typeface="Calibri"/>
              </a:rPr>
              <a:t>Volatile organic compounds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378"/>
                </a:solidFill>
                <a:latin typeface="Calibri"/>
              </a:rPr>
              <a:t>Fuels, solvents, petrochem, biogenic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33087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+  sunlight (UV)  +  heat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39312" y="2615184"/>
            <a:ext cx="1051560" cy="548640"/>
          </a:xfrm>
          <a:prstGeom prst="rightArrow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64608" y="2286000"/>
            <a:ext cx="2148840" cy="1188720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2432304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O₃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E3E4"/>
                </a:solidFill>
                <a:latin typeface="Calibri"/>
              </a:rPr>
              <a:t>ground-level ozone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81728"/>
            <a:ext cx="6400800" cy="466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0A4149"/>
                </a:solidFill>
                <a:latin typeface="Cambria"/>
              </a:rPr>
              <a:t>Simplified photochemistry</a:t>
            </a:r>
            <a:endParaRPr lang="en-US" sz="1250" b="1" i="0" dirty="0">
              <a:solidFill>
                <a:srgbClr val="0A4149"/>
              </a:solidFill>
              <a:latin typeface="Cambri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endParaRPr sz="1250" b="1" i="0" dirty="0">
              <a:solidFill>
                <a:srgbClr val="0A4149"/>
              </a:solidFill>
              <a:latin typeface="Cambri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69480" y="1691640"/>
            <a:ext cx="437083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1874519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4149"/>
                </a:solidFill>
                <a:latin typeface="Cambria"/>
              </a:rPr>
              <a:t>Key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340864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Precursor-driven.  </a:t>
            </a:r>
            <a:r>
              <a:rPr sz="1250">
                <a:solidFill>
                  <a:srgbClr val="333A3D"/>
                </a:solidFill>
                <a:latin typeface="Calibri"/>
              </a:rPr>
              <a:t>Production is limited by the supply of NOₓ and VOCs and by sunlight intensity.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Chemical regimes.  </a:t>
            </a:r>
            <a:r>
              <a:rPr sz="1250">
                <a:solidFill>
                  <a:srgbClr val="333A3D"/>
                </a:solidFill>
                <a:latin typeface="Calibri"/>
              </a:rPr>
              <a:t>Can be NOₓ-limited (rural/downwind) or VOC-limited (urban cores); this dictates which precursor to control.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Diurnal cycle.  </a:t>
            </a:r>
            <a:r>
              <a:rPr sz="1250">
                <a:solidFill>
                  <a:srgbClr val="333A3D"/>
                </a:solidFill>
                <a:latin typeface="Calibri"/>
              </a:rPr>
              <a:t>Builds to a mid-afternoon peak, falls overnight as photochemistry stops and NO titrates O₃.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Secondary &amp; regional.  </a:t>
            </a:r>
            <a:r>
              <a:rPr sz="1250">
                <a:solidFill>
                  <a:srgbClr val="333A3D"/>
                </a:solidFill>
                <a:latin typeface="Calibri"/>
              </a:rPr>
              <a:t>Peaks often occur downwind of sources; transported background ozone adds to local production.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U.S. EPA Integrated Science Assessment for Ozone (2020); NRC, Rethinking the Ozone Problem in Urban and Regional Air Pollution (1991).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2325D2-F626-E146-38BA-7D94F3B8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74" y="4603734"/>
            <a:ext cx="3383693" cy="15044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MEASUREMENT · PRINCIPLE &amp; INSTRUMENT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How Ozone Is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45920"/>
            <a:ext cx="5394960" cy="2450592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4149"/>
                </a:solidFill>
                <a:latin typeface="Cambria"/>
              </a:rPr>
              <a:t>UV Photometric Absorption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12848"/>
            <a:ext cx="2788920" cy="310896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DOMINANT IN PRACTICE (~99% OF MONITORS)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Ozone absorbs UV at 254 nm; absorbance → concentration via the Beer–Lambert law.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Air measured with and without ozone (scrubbed reference) to isolate the O₃ signal.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Continuous, hourly-reporting analyzers; most regulatory O₃ monitors use this principle.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645920"/>
            <a:ext cx="5394960" cy="2450592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A4149"/>
                </a:solidFill>
                <a:latin typeface="Cambria"/>
              </a:rPr>
              <a:t>Gas-Phase Chemiluminescence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212848"/>
            <a:ext cx="2788920" cy="310896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12848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FEDERAL REFERENCE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7004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Ozone reacts with ethylene (or nitric oxide) to emit light proportional to O₃.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Basis of the Federal Reference Method in 40 CFR Part 50, Appendix D.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Highly specific and interference-resistant, but less common in routine networks.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34256"/>
            <a:ext cx="1107338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4988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149"/>
                </a:solidFill>
                <a:latin typeface="Cambria"/>
              </a:rPr>
              <a:t>Calibration &amp;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19472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Calibrations trace to a NIST-traceable UV Standard Reference Photometer (SRP).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Uses a defined ozone absorption cross-section for consistency across the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919472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Sited and operated under 40 CFR Part 58 (monitoring network requirements).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Ozone-“season” operation is common; many sites report April–October at minimum.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40 CFR Part 50 App. D (calibration/traceability); Part 58; EPA List of Designated Reference &amp; Equivalent Methods. Verify designations against EPA.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REGULATORY METHOD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FRM vs. FEM: Definitions &amp;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45920"/>
            <a:ext cx="5440680" cy="278892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0A4149"/>
                </a:solidFill>
                <a:latin typeface="Cambria"/>
              </a:rPr>
              <a:t>FRM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22A2E"/>
                </a:solidFill>
                <a:latin typeface="Calibri"/>
              </a:rPr>
              <a:t>Federal Reference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>
                <a:solidFill>
                  <a:srgbClr val="333A3D"/>
                </a:solidFill>
                <a:latin typeface="Calibri"/>
              </a:rPr>
              <a:t>The benchmark method EPA specifies — by measurement principle and calibration — in the 40 CFR Part 50 appendices.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>
                <a:solidFill>
                  <a:srgbClr val="333A3D"/>
                </a:solidFill>
                <a:latin typeface="Calibri"/>
              </a:rPr>
              <a:t>For ozone: a gas-phase chemiluminescence reference measurement principle.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>
                <a:solidFill>
                  <a:srgbClr val="333A3D"/>
                </a:solidFill>
                <a:latin typeface="Calibri"/>
              </a:rPr>
              <a:t>Defines the standard against which candidate methods are judged.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645920"/>
            <a:ext cx="54406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8288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0A4149"/>
                </a:solidFill>
                <a:latin typeface="Cambria"/>
              </a:rPr>
              <a:t>FEM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22A2E"/>
                </a:solidFill>
                <a:latin typeface="Calibri"/>
              </a:rPr>
              <a:t>Federal Equivalent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633472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>
                <a:solidFill>
                  <a:srgbClr val="333A3D"/>
                </a:solidFill>
                <a:latin typeface="Calibri"/>
              </a:rPr>
              <a:t>An alternative method (often a different principle) EPA has tested and certified to yield data equivalent to the FRM.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>
                <a:solidFill>
                  <a:srgbClr val="333A3D"/>
                </a:solidFill>
                <a:latin typeface="Calibri"/>
              </a:rPr>
              <a:t>For ozone: UV photometric analyzers are the predominant FEMs.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>
                <a:solidFill>
                  <a:srgbClr val="333A3D"/>
                </a:solidFill>
                <a:latin typeface="Calibri"/>
              </a:rPr>
              <a:t>Must meet the performance specifications in 40 CFR Part 53 to earn designation.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590288"/>
            <a:ext cx="11073384" cy="1481328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The difference in one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The FRM is the defined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reference standard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; an FEM is a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certified equal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that agencies may deploy instead. Both yield regulatory-quality data usable for NAAQS comparisons; in ozone networks the FRM sets the scale while UV FEMs do most day-to-day monitoring.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40 CFR Part 50 (reference methods); 40 CFR Part 53 (equivalent-method designation &amp; performance tests).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B3787C-AAA9-DDC5-65BC-8FF09B69F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29" y="1196860"/>
            <a:ext cx="10541542" cy="4464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DED10F-DDCA-302D-1526-1C1142F95F36}"/>
              </a:ext>
            </a:extLst>
          </p:cNvPr>
          <p:cNvSpPr txBox="1"/>
          <p:nvPr/>
        </p:nvSpPr>
        <p:spPr>
          <a:xfrm>
            <a:off x="1027611" y="313509"/>
            <a:ext cx="993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Ozone is Calculated?</a:t>
            </a:r>
          </a:p>
        </p:txBody>
      </p:sp>
    </p:spTree>
    <p:extLst>
      <p:ext uri="{BB962C8B-B14F-4D97-AF65-F5344CB8AC3E}">
        <p14:creationId xmlns:p14="http://schemas.microsoft.com/office/powerpoint/2010/main" val="258861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EVOLUTION OF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How Measurement Changed — and Why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73383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5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9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7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Era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it changed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1971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Original FRM promulgated: ethylene-based gas-phase chemiluminescence.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Establish a specific, reproducible reference at the first ozone NAAQS.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1970s–90s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UV photometric analyzers adopted widely as Federal Equivalent Methods.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Ethylene reagent handling was costly/hazardous; UV is reagent-free and easier to run.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Reference measurement principle updated (Part 50 App. D); UV-traceable calibration refined.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Modernize specifications, tighten calibration/traceability, reflect field practice.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2023–25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Further amendments to App. D calibration provisions.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A3D"/>
                          </a:solidFill>
                          <a:latin typeface="Calibri"/>
                        </a:rPr>
                        <a:t>Continued refinement of absorption cross-section and calibration rigor.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468112"/>
            <a:ext cx="11073384" cy="658368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59552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4149"/>
                </a:solidFill>
                <a:latin typeface="Calibri"/>
              </a:rPr>
              <a:t>Analyst takeaway:  </a:t>
            </a:r>
            <a:r>
              <a:rPr sz="1250" b="0" i="0">
                <a:solidFill>
                  <a:srgbClr val="333A3D"/>
                </a:solidFill>
                <a:latin typeface="Calibri"/>
              </a:rPr>
              <a:t>method and calibration changes can introduce step-changes into long time series — always check the method code and any FRM/FEM transition before interpreting multi-decade trends.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40 CFR Part 50 App. D revision history (80 FR 65453, 2015; amended 2023 &amp; 2025); Long et al. (2021), Atmos. Meas. Tech. Verify dates against eCFR.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AQS IDENTIFIERS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Parameter Code &amp; Method 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45920"/>
            <a:ext cx="2880360" cy="1828800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FE3E4"/>
                </a:solidFill>
                <a:latin typeface="Calibri"/>
              </a:rPr>
              <a:t>AQS PARAMETER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44201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Ozone (O₃)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FE3E4"/>
                </a:solidFill>
                <a:latin typeface="Calibri"/>
              </a:rPr>
              <a:t>Reported in ppm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39312"/>
            <a:ext cx="2880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A4149"/>
                </a:solidFill>
                <a:latin typeface="Cambria"/>
              </a:rPr>
              <a:t>On method codes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3A3D"/>
                </a:solidFill>
                <a:latin typeface="Calibri"/>
              </a:rPr>
              <a:t>AQS pairs parameter 44201 with a method code identifying the instrument/principle. EPA also publishes federal designation numbers — RFOA (reference) and EQOA (equivalent) — in its designated-methods list.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0" y="1645920"/>
          <a:ext cx="7982711" cy="2807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1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Instrument (representative)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Principle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EPA designation №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Thermo Scientific 49i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UV photometric (FEM)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EQOA-0880-047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Ecotech EC9810 / Serinus 10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UV photometric (FEM)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EQOA-0193-091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2B Technologies Model 205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UV photometric (FEM)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EQOA-1410-190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2B Technologies Model 211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UV photometric (FEM)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EQOA-0514-215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Bendix / CSI 8002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Ethylene chemiluminescence (FRM)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Reference (RFOA family)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0" y="5102352"/>
            <a:ext cx="79827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4149"/>
                </a:solidFill>
                <a:latin typeface="Calibri"/>
              </a:rPr>
              <a:t>Note on numeric method codes.  </a:t>
            </a:r>
            <a:r>
              <a:rPr sz="1100" b="0" i="0">
                <a:solidFill>
                  <a:srgbClr val="333A3D"/>
                </a:solidFill>
                <a:latin typeface="Calibri"/>
              </a:rPr>
              <a:t>AQS also stores a short numeric method code per monitor (distinguishing UV-photometric vs. chemiluminescence families). Pull the exact numeric codes and current designations from the EPA AQS “Methods” code table rather than assuming them — they change as instruments are approved or retired.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EPA AQS parameter code 44201; EPA List of Designated Reference &amp; Equivalent Methods (designation numbers verified). Confirm numeric method codes in the AQS code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UNITS &amp; REPORTING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Units, Conversions &amp; Reporting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5486399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2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AQS code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ppm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007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AQS storage unit for O₃; NAAQS expressed in ppm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ppb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008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Common reporting/plotting (1 ppm = 1000 ppb)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µg/m³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001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Mass basis; depends on temperature &amp; pressure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3977639"/>
            <a:ext cx="5486400" cy="210312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133087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A4149"/>
                </a:solidFill>
                <a:latin typeface="Cambria"/>
              </a:rPr>
              <a:t>Conversion (25 °C, 1 atm)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53712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22A2E"/>
                </a:solidFill>
                <a:latin typeface="Consolas"/>
              </a:rPr>
              <a:t>1 ppb O₃ ≈ 1.96 µg/m³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22A2E"/>
                </a:solidFill>
                <a:latin typeface="Consolas"/>
              </a:rPr>
              <a:t>0.070 ppm = 70 ppb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B7378"/>
                </a:solidFill>
                <a:latin typeface="Calibri"/>
              </a:rPr>
              <a:t>Mass–volume conversion varies with temperature and pressure via the molar volume; always state reference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691640"/>
            <a:ext cx="54406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55664" y="187451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4149"/>
                </a:solidFill>
                <a:latin typeface="Cambria"/>
              </a:rPr>
              <a:t>Reporting conventions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340864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Hourly averages.  </a:t>
            </a:r>
            <a:r>
              <a:rPr sz="1250">
                <a:solidFill>
                  <a:srgbClr val="333A3D"/>
                </a:solidFill>
                <a:latin typeface="Calibri"/>
              </a:rPr>
              <a:t>Continuous analyzers report 1-hour average concentrations to AQS.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8-hour statistic.  </a:t>
            </a:r>
            <a:r>
              <a:rPr sz="1250">
                <a:solidFill>
                  <a:srgbClr val="333A3D"/>
                </a:solidFill>
                <a:latin typeface="Calibri"/>
              </a:rPr>
              <a:t>AQS computes the daily maximum 8-hour average (MDA8) as a running mean of eight 1-hour values.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Design value.  </a:t>
            </a:r>
            <a:r>
              <a:rPr sz="1250">
                <a:solidFill>
                  <a:srgbClr val="333A3D"/>
                </a:solidFill>
                <a:latin typeface="Calibri"/>
              </a:rPr>
              <a:t>The regulatory metric: the 3-year average of the annual 4th-highest MDA8.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Completeness.  </a:t>
            </a:r>
            <a:r>
              <a:rPr sz="1250">
                <a:solidFill>
                  <a:srgbClr val="333A3D"/>
                </a:solidFill>
                <a:latin typeface="Calibri"/>
              </a:rPr>
              <a:t>Data-capture and validity rules govern whether a day or quarter counts.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5C66"/>
                </a:solidFill>
                <a:latin typeface="Calibri"/>
              </a:rPr>
              <a:t>–  </a:t>
            </a:r>
            <a:r>
              <a:rPr sz="1250" b="1">
                <a:solidFill>
                  <a:srgbClr val="222A2E"/>
                </a:solidFill>
                <a:latin typeface="Calibri"/>
              </a:rPr>
              <a:t>Convention.  </a:t>
            </a:r>
            <a:r>
              <a:rPr sz="1250">
                <a:solidFill>
                  <a:srgbClr val="333A3D"/>
                </a:solidFill>
                <a:latin typeface="Calibri"/>
              </a:rPr>
              <a:t>U.S. regulatory ozone is handled in ppm/ppb by volume; µg/m³ appears in health and international contexts.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U.S. EPA AQS/AirData documentation; 40 CFR Part 50 App. U (8-hour ozone data handling &amp; design value).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THE STANDARD &amp; ITS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NAAQS: Level, History &amp; the Design-Value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45920"/>
            <a:ext cx="3383280" cy="2148840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3383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FE3E4"/>
                </a:solidFill>
                <a:latin typeface="Calibri"/>
              </a:rPr>
              <a:t>CURRENT NAAQS (2015)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0.070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ppm  (70 ppb), 8-hour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CFE3E4"/>
                </a:solidFill>
                <a:latin typeface="Calibri"/>
              </a:rPr>
              <a:t>Primary &amp; secondary, set identically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950208"/>
            <a:ext cx="3383280" cy="2130552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4114800"/>
            <a:ext cx="294436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4149"/>
                </a:solidFill>
                <a:latin typeface="Cambria"/>
              </a:rPr>
              <a:t>Form of the standard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3D"/>
                </a:solidFill>
                <a:latin typeface="Calibri"/>
              </a:rPr>
              <a:t>Attained when the 3-year average of the annual 4th-highest daily-max 8-hour concentration is ≤ 0.070 ppm at a site.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0" y="1645920"/>
          <a:ext cx="7434071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4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7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1971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0.08 ppm (1-hr, total oxidants)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Not-to-exceed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1979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0.12 ppm (1-hr)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Expected exceedances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1997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0.08 ppm (8-hr)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4th-high, 3-yr avg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2008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0.075 ppm (8-hr)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4th-high, 3-yr avg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0.070 ppm (8-hr) — current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A3D"/>
                          </a:solidFill>
                          <a:latin typeface="Calibri"/>
                        </a:rPr>
                        <a:t>4th-high, 3-yr avg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206240" y="4224528"/>
            <a:ext cx="7434072" cy="1856231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43984" y="437083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A4149"/>
                </a:solidFill>
                <a:latin typeface="Cambria"/>
              </a:rPr>
              <a:t>Scientific 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4773168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5C66"/>
                </a:solidFill>
                <a:latin typeface="Calibri"/>
              </a:rPr>
              <a:t>–  </a:t>
            </a:r>
            <a:r>
              <a:rPr sz="1150">
                <a:solidFill>
                  <a:srgbClr val="333A3D"/>
                </a:solidFill>
                <a:latin typeface="Calibri"/>
              </a:rPr>
              <a:t>Controlled-exposure and epidemiological evidence link short-term O₃ to reduced lung function, airway inflammation, and aggravated asthma; long-term exposure to respiratory harm.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5C66"/>
                </a:solidFill>
                <a:latin typeface="Calibri"/>
              </a:rPr>
              <a:t>–  </a:t>
            </a:r>
            <a:r>
              <a:rPr sz="1150">
                <a:solidFill>
                  <a:srgbClr val="333A3D"/>
                </a:solidFill>
                <a:latin typeface="Calibri"/>
              </a:rPr>
              <a:t>The secondary standard protects welfare: vegetation, crop and forest productivity, ecosystems.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5C66"/>
                </a:solidFill>
                <a:latin typeface="Calibri"/>
              </a:rPr>
              <a:t>–  </a:t>
            </a:r>
            <a:r>
              <a:rPr sz="1150">
                <a:solidFill>
                  <a:srgbClr val="333A3D"/>
                </a:solidFill>
                <a:latin typeface="Calibri"/>
              </a:rPr>
              <a:t>EPA's 2020 review retained 0.070 ppm as protective with an adequate margin of safety.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40 CFR Part 50; EPA Ozone NAAQS Timeline; EPA ISA for Ozone (2020); Dec. 2020 final decision to retain. Time-sensitive — verify current review status against EPA.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CCA5A-77DC-FEC2-AE5B-25A177BDF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397" y="934709"/>
            <a:ext cx="8788852" cy="3943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FB6B92-04B5-1697-A3DF-5B987893C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33" y="4878262"/>
            <a:ext cx="10859058" cy="19114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EE3A4-B399-8385-9CCE-7AF2B6A2FD4C}"/>
              </a:ext>
            </a:extLst>
          </p:cNvPr>
          <p:cNvSpPr txBox="1"/>
          <p:nvPr/>
        </p:nvSpPr>
        <p:spPr>
          <a:xfrm>
            <a:off x="513806" y="165463"/>
            <a:ext cx="1106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WHO Standards</a:t>
            </a:r>
          </a:p>
        </p:txBody>
      </p:sp>
    </p:spTree>
    <p:extLst>
      <p:ext uri="{BB962C8B-B14F-4D97-AF65-F5344CB8AC3E}">
        <p14:creationId xmlns:p14="http://schemas.microsoft.com/office/powerpoint/2010/main" val="124464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AB246-364D-6BF1-B38B-FD36F45F9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101429"/>
            <a:ext cx="12160875" cy="665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59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A4348-3E8B-EB17-012F-EF3216D1C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3" t="1630"/>
          <a:stretch>
            <a:fillRect/>
          </a:stretch>
        </p:blipFill>
        <p:spPr>
          <a:xfrm>
            <a:off x="862149" y="1236616"/>
            <a:ext cx="9229963" cy="5291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ECBDC9-2417-DA30-533A-1AC399DA07F4}"/>
              </a:ext>
            </a:extLst>
          </p:cNvPr>
          <p:cNvSpPr txBox="1"/>
          <p:nvPr/>
        </p:nvSpPr>
        <p:spPr>
          <a:xfrm>
            <a:off x="975360" y="200297"/>
            <a:ext cx="815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GOOD SIGN</a:t>
            </a:r>
          </a:p>
        </p:txBody>
      </p:sp>
    </p:spTree>
    <p:extLst>
      <p:ext uri="{BB962C8B-B14F-4D97-AF65-F5344CB8AC3E}">
        <p14:creationId xmlns:p14="http://schemas.microsoft.com/office/powerpoint/2010/main" val="3244402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METEOROLOGICAL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Weather Influences on Ozone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91640"/>
            <a:ext cx="3520440" cy="201168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874520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149"/>
                </a:solidFill>
                <a:latin typeface="Cambria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50008"/>
            <a:ext cx="30815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A3D"/>
                </a:solidFill>
                <a:latin typeface="Calibri"/>
              </a:rPr>
              <a:t>Heat accelerates photochemistry and biogenic VOC emissions; ozone rises sharply on hot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1104" y="1691640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149"/>
                </a:solidFill>
                <a:latin typeface="Cambria"/>
              </a:rPr>
              <a:t>Solar radiation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50008"/>
            <a:ext cx="30815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A3D"/>
                </a:solidFill>
                <a:latin typeface="Calibri"/>
              </a:rPr>
              <a:t>Sunlight is the energy source for O₃ formation; clear-sky summer days maximize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691640"/>
            <a:ext cx="3520440" cy="201168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74735" y="1874520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149"/>
                </a:solidFill>
                <a:latin typeface="Cambria"/>
              </a:rPr>
              <a:t>Wind &amp;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5" y="2350008"/>
            <a:ext cx="30815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A3D"/>
                </a:solidFill>
                <a:latin typeface="Calibri"/>
              </a:rPr>
              <a:t>Light winds and stagnation trap precursors; regional transport imports background ozone from upwind.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13632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4096512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149"/>
                </a:solidFill>
                <a:latin typeface="Cambria"/>
              </a:rPr>
              <a:t>Boundary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572000"/>
            <a:ext cx="30815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A3D"/>
                </a:solidFill>
                <a:latin typeface="Calibri"/>
              </a:rPr>
              <a:t>A shallow, stable mixing layer concentrates precursors; strong mixing dilutes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1104" y="3913632"/>
            <a:ext cx="3520440" cy="201168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096512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149"/>
                </a:solidFill>
                <a:latin typeface="Cambria"/>
              </a:rPr>
              <a:t>High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572000"/>
            <a:ext cx="30815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A3D"/>
                </a:solidFill>
                <a:latin typeface="Calibri"/>
              </a:rPr>
              <a:t>Subsidence, clear skies, and light winds under stagnant highs are classic ozone-episode conditions.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3913632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5" y="4096512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149"/>
                </a:solidFill>
                <a:latin typeface="Cambria"/>
              </a:rPr>
              <a:t>Humidity &amp; fronts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5" y="4572000"/>
            <a:ext cx="308152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A3D"/>
                </a:solidFill>
                <a:latin typeface="Calibri"/>
              </a:rPr>
              <a:t>Clean maritime or frontal passages usually suppress peaks; coastal recirculation can worsen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NOAA/NWS air-quality meteorology guidance; Jacob &amp; Winner (2009), Atmos. Environ.; EPA ISA for Ozone (2020).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534B-2E0B-9334-F643-C9DF37B8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F7C53-8C00-0F28-E577-BD559D9D61F6}"/>
              </a:ext>
            </a:extLst>
          </p:cNvPr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METEOROLOGICAL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0775A-451C-5C29-A21F-4903C22BD89A}"/>
              </a:ext>
            </a:extLst>
          </p:cNvPr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Weather Influences on Ozone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B00FD03-AD66-6808-9AE6-D64A5FBCA5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51"/>
          <a:stretch>
            <a:fillRect/>
          </a:stretch>
        </p:blipFill>
        <p:spPr>
          <a:xfrm>
            <a:off x="302698" y="1350238"/>
            <a:ext cx="11151173" cy="47579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F8FD65-FC40-959C-15F3-C01088B22DF2}"/>
              </a:ext>
            </a:extLst>
          </p:cNvPr>
          <p:cNvSpPr txBox="1"/>
          <p:nvPr/>
        </p:nvSpPr>
        <p:spPr>
          <a:xfrm>
            <a:off x="3910148" y="6137757"/>
            <a:ext cx="992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OZONE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20D077-F851-0998-A064-FD02557F5FB4}"/>
              </a:ext>
            </a:extLst>
          </p:cNvPr>
          <p:cNvSpPr txBox="1"/>
          <p:nvPr/>
        </p:nvSpPr>
        <p:spPr>
          <a:xfrm>
            <a:off x="7289077" y="6044531"/>
            <a:ext cx="144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9FDDEB-68E1-89C7-B494-6D3E722F7C6F}"/>
              </a:ext>
            </a:extLst>
          </p:cNvPr>
          <p:cNvCxnSpPr/>
          <p:nvPr/>
        </p:nvCxnSpPr>
        <p:spPr>
          <a:xfrm flipV="1">
            <a:off x="4284617" y="3866606"/>
            <a:ext cx="0" cy="2098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AC7A59-1C4B-F882-7223-C5E322E75980}"/>
              </a:ext>
            </a:extLst>
          </p:cNvPr>
          <p:cNvCxnSpPr>
            <a:cxnSpLocks/>
          </p:cNvCxnSpPr>
          <p:nvPr/>
        </p:nvCxnSpPr>
        <p:spPr>
          <a:xfrm flipV="1">
            <a:off x="7868195" y="2656115"/>
            <a:ext cx="0" cy="3043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1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TCEQ vs. EPA AQS: Roles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45920"/>
            <a:ext cx="5440680" cy="269748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4149"/>
                </a:solidFill>
                <a:latin typeface="Cambria"/>
              </a:rPr>
              <a:t>TCEQ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22A2E"/>
                </a:solidFill>
                <a:latin typeface="Calibri"/>
              </a:rPr>
              <a:t>Texas Commission on Environmental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78608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State agency operating Texas monitors (CAMS network) and collecting ambient data.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Performs QA and certifies data; develops State Implementation Plans (SIPs).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Submits validated data to EPA; provides near-real-time (uncertified) data publicly.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645920"/>
            <a:ext cx="54406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8288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4149"/>
                </a:solidFill>
                <a:latin typeface="Cambria"/>
              </a:rPr>
              <a:t>EPA AQS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22A2E"/>
                </a:solidFill>
                <a:latin typeface="Calibri"/>
              </a:rPr>
              <a:t>EPA Air Quality System (national repository)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578608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National database of certified ambient data from state, local &amp; tribal agencies.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Standardized identifiers: state/county/site codes, parameter code 44201, method codes, POC.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F5C66"/>
                </a:solidFill>
                <a:latin typeface="Calibri"/>
              </a:rPr>
              <a:t>–  </a:t>
            </a:r>
            <a:r>
              <a:rPr sz="1200">
                <a:solidFill>
                  <a:srgbClr val="333A3D"/>
                </a:solidFill>
                <a:latin typeface="Calibri"/>
              </a:rPr>
              <a:t>Source for design values, AirData reports, and NAAQS determinations.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526280"/>
            <a:ext cx="11073384" cy="1554480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817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Cambria"/>
              </a:rPr>
              <a:t>Certified vs. uncertified · how they relate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Monitor → TCEQ (collect, QA, certify) → EPA AQS (national, certified). 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Uncertified/preliminary data support timely analysis but can change; certified AQS data are the official record for regulatory and trend work. Latency to AQS can be several months — use certified data for design values and formal conclusions.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378"/>
                </a:solidFill>
                <a:latin typeface="Calibri"/>
              </a:rPr>
              <a:t>Sources: TCEQ ambient monitoring (CAMS/TAMIS) documentation; U.S. EPA AQS documentation.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DATA GOVERNANCE · PRACTICAL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TCEQ vs. EPA Ozone Data: Key Differences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91056"/>
          <a:ext cx="11073383" cy="3419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6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TCEQ (TAMIS)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EPA (AQS / AirData)</a:t>
                      </a:r>
                    </a:p>
                  </a:txBody>
                  <a:tcPr marL="82296" marR="82296" marT="27432" marB="27432" anchor="ctr"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0F5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State network: operates the CAMS monitors; upstream source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National repository: receives certified data from the states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Native cadence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Raw 1-hour averages, refreshed hourly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Stores hourly; headline ozone metric is the 8-hour daily max (MDA8)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Ozone units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Parts per billion (ppb) — unit code 008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Parts per million (ppm) — unit code 007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Regulatory metric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Raw observations; analyst derives MDA8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4th-highest MDA8; 3-yr design value (Part 50 App. U)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Certification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Near-real-time, uncertified (may change)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Certified national record; months of latency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Access format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AQS RD v1.6 transaction files via TAMIS portal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AQS API and AirData standard reports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2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Site coverage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All Texas CAMS, incl. sites absent from AQS Data Mart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3D"/>
                          </a:solidFill>
                          <a:latin typeface="Calibri"/>
                        </a:rPr>
                        <a:t>Subset submitted to / exposed via AQS Data Mart</a:t>
                      </a:r>
                    </a:p>
                  </a:txBody>
                  <a:tcPr marL="82296" marR="82296" marT="27432" marB="27432" anchor="ctr">
                    <a:lnT w="6350" cap="flat" cmpd="sng" algn="ctr">
                      <a:solidFill>
                        <a:srgbClr val="C5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650992"/>
            <a:ext cx="11073384" cy="585216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751576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Unit trap.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Ozone is ppb in TCEQ but ppm in EPA — a 1000× factor. Convert ppb → ppm (× 0.001) before any cross-source comparison or NAAQS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REGIONAL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South Texas Study Area: Where Ozone Is Monitored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2615184" cy="109728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4149"/>
                </a:solidFill>
                <a:latin typeface="Cambri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6B7378"/>
                </a:solidFill>
                <a:latin typeface="Calibri"/>
              </a:rPr>
              <a:t>South Texas counties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4992" y="1572768"/>
            <a:ext cx="2615184" cy="109728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4992" y="1737360"/>
            <a:ext cx="261518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>
                <a:solidFill>
                  <a:srgbClr val="0A4149"/>
                </a:solidFill>
                <a:latin typeface="Cambria"/>
              </a:rPr>
              <a:t>18</a:t>
            </a:r>
            <a:endParaRPr sz="2700" b="1" i="0" dirty="0">
              <a:solidFill>
                <a:srgbClr val="0A4149"/>
              </a:solidFill>
              <a:latin typeface="Cambri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63056" y="1572768"/>
            <a:ext cx="2615184" cy="109728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63056" y="1737360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4149"/>
                </a:solidFill>
                <a:latin typeface="Cambria"/>
              </a:rPr>
              <a:t>2015–25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2331720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378"/>
                </a:solidFill>
                <a:latin typeface="Calibri"/>
              </a:rPr>
              <a:t>study period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572768"/>
            <a:ext cx="2615184" cy="1097280"/>
          </a:xfrm>
          <a:prstGeom prst="rect">
            <a:avLst/>
          </a:prstGeom>
          <a:solidFill>
            <a:srgbClr val="0F5C66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737360"/>
            <a:ext cx="26151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44201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31720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E3E4"/>
                </a:solidFill>
                <a:latin typeface="Calibri"/>
              </a:rPr>
              <a:t>AQS code for O₃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89504"/>
            <a:ext cx="6446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931" y="3017520"/>
            <a:ext cx="5943600" cy="2369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/>
              <a:t>Bexar</a:t>
            </a:r>
            <a:r>
              <a:rPr lang="en-US" sz="1400" dirty="0"/>
              <a:t> (7 sites): CPS Pecan Valley_0055, Calaveras Lake_0059, Camp Bullis_0052, Elm Creek Elementary_0501, Fair Oaks Ranch_0502, Government Canyon_1610, Heritage Middle School_0622</a:t>
            </a:r>
          </a:p>
          <a:p>
            <a:r>
              <a:rPr lang="en-US" sz="1400" b="1" dirty="0"/>
              <a:t>Cameron</a:t>
            </a:r>
            <a:r>
              <a:rPr lang="en-US" sz="1400" dirty="0"/>
              <a:t> (2 sites): Brownsville_0006, Harlingen_1023</a:t>
            </a:r>
          </a:p>
          <a:p>
            <a:r>
              <a:rPr lang="en-US" sz="1400" b="1" dirty="0"/>
              <a:t>Comal</a:t>
            </a:r>
            <a:r>
              <a:rPr lang="en-US" sz="1400" dirty="0"/>
              <a:t> (2 sites): Bulverde Elementary_0503, City of Garden Ridge_0505</a:t>
            </a:r>
          </a:p>
          <a:p>
            <a:r>
              <a:rPr lang="en-US" sz="1400" b="1" dirty="0"/>
              <a:t>Guadalupe</a:t>
            </a:r>
            <a:r>
              <a:rPr lang="en-US" sz="1400" dirty="0"/>
              <a:t> (2 sites): New Braunfels Airport_0504, Seguin Outdoor Learning Center_0506</a:t>
            </a:r>
          </a:p>
          <a:p>
            <a:r>
              <a:rPr lang="en-US" sz="1400" b="1" dirty="0"/>
              <a:t>Hidalgo</a:t>
            </a:r>
            <a:r>
              <a:rPr lang="en-US" sz="1400" dirty="0"/>
              <a:t> (1 site): Mission_0043</a:t>
            </a:r>
          </a:p>
          <a:p>
            <a:r>
              <a:rPr lang="en-US" sz="1400" b="1" dirty="0"/>
              <a:t>Nueces</a:t>
            </a:r>
            <a:r>
              <a:rPr lang="en-US" sz="1400" dirty="0"/>
              <a:t> (2 sites): Corpus Christi Tuloso_0026, Corpus Christi West_0025</a:t>
            </a:r>
          </a:p>
          <a:p>
            <a:r>
              <a:rPr lang="en-US" sz="1400" b="1" dirty="0"/>
              <a:t>Victoria</a:t>
            </a:r>
            <a:r>
              <a:rPr lang="en-US" sz="1400" dirty="0"/>
              <a:t> (1 site): Victoria_0003</a:t>
            </a:r>
          </a:p>
          <a:p>
            <a:r>
              <a:rPr lang="en-US" sz="1400" b="1" dirty="0"/>
              <a:t>Webb</a:t>
            </a:r>
            <a:r>
              <a:rPr lang="en-US" sz="1400" dirty="0"/>
              <a:t> (1 site): Laredo Vidaurri_0016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889504"/>
            <a:ext cx="4462272" cy="3200400"/>
          </a:xfrm>
          <a:prstGeom prst="rect">
            <a:avLst/>
          </a:prstGeom>
          <a:solidFill>
            <a:srgbClr val="F4F7F7"/>
          </a:solidFill>
          <a:ln w="9525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594ABB-F495-4E72-5F27-D35E600E7C16}"/>
              </a:ext>
            </a:extLst>
          </p:cNvPr>
          <p:cNvSpPr txBox="1"/>
          <p:nvPr/>
        </p:nvSpPr>
        <p:spPr>
          <a:xfrm>
            <a:off x="3392424" y="2308485"/>
            <a:ext cx="261518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 dirty="0">
                <a:solidFill>
                  <a:srgbClr val="6B7378"/>
                </a:solidFill>
                <a:latin typeface="Calibri"/>
              </a:rPr>
              <a:t>Active number of sites</a:t>
            </a:r>
            <a:endParaRPr sz="1100" b="1" i="0" dirty="0">
              <a:solidFill>
                <a:srgbClr val="6B7378"/>
              </a:solidFill>
              <a:latin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512AAA-1592-8F82-C339-BEF05FB40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502" y="2971800"/>
            <a:ext cx="3587934" cy="160028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B6BD15-69FE-3B7A-B912-89D7235ECCE9}"/>
              </a:ext>
            </a:extLst>
          </p:cNvPr>
          <p:cNvSpPr txBox="1"/>
          <p:nvPr/>
        </p:nvSpPr>
        <p:spPr>
          <a:xfrm>
            <a:off x="7491984" y="4587181"/>
            <a:ext cx="41483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Different method codes within that UV-absorption family typically correspond to different instrument manufacturers or model generations (for example, older </a:t>
            </a:r>
            <a:r>
              <a:rPr lang="en-US" sz="1400" dirty="0" err="1"/>
              <a:t>Dasibi</a:t>
            </a:r>
            <a:r>
              <a:rPr lang="en-US" sz="1400" dirty="0"/>
              <a:t> or Bendix analyzers versus newer </a:t>
            </a:r>
            <a:r>
              <a:rPr lang="en-US" sz="1400" dirty="0" err="1"/>
              <a:t>Thermo</a:t>
            </a:r>
            <a:r>
              <a:rPr lang="en-US" sz="1400" dirty="0"/>
              <a:t> Scientific, Teledyne API, or </a:t>
            </a:r>
            <a:r>
              <a:rPr lang="en-US" sz="1400" dirty="0" err="1"/>
              <a:t>Ecotech</a:t>
            </a:r>
            <a:r>
              <a:rPr lang="en-US" sz="1400" dirty="0"/>
              <a:t> instruments), or sometimes to different calibration/measurement protocol versions.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5C66"/>
                </a:solidFill>
                <a:latin typeface="Calibri"/>
              </a:rPr>
              <a:t>REFERENCE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22A2E"/>
                </a:solidFill>
                <a:latin typeface="Cambria"/>
              </a:rPr>
              <a:t>Ground-Level Ozone — Key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91640"/>
            <a:ext cx="5440680" cy="822960"/>
          </a:xfrm>
          <a:prstGeom prst="rect">
            <a:avLst/>
          </a:prstGeom>
          <a:solidFill>
            <a:srgbClr val="F4F7F7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81051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084832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Secondary photochemical pollutant; a criteria pollutant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87752"/>
            <a:ext cx="54406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70662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80944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NOₓ + VOCs under sunlight &amp; heat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83864"/>
            <a:ext cx="5440680" cy="822960"/>
          </a:xfrm>
          <a:prstGeom prst="rect">
            <a:avLst/>
          </a:prstGeom>
          <a:solidFill>
            <a:srgbClr val="F4F7F7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360273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AQS PARAMETER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877056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44201  (EPA stores in ppm; TCEQ reports in ppb)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379976"/>
            <a:ext cx="54406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44988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7731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UV photometry (dominant FEM); chemiluminescence FRM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276088"/>
            <a:ext cx="5440680" cy="822960"/>
          </a:xfrm>
          <a:prstGeom prst="rect">
            <a:avLst/>
          </a:prstGeom>
          <a:solidFill>
            <a:srgbClr val="F4F7F7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539496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REFERENCE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669280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3-yr avg of annual 4th-highest daily-max 8-hour (MDA8)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691640"/>
            <a:ext cx="5440680" cy="822960"/>
          </a:xfrm>
          <a:prstGeom prst="rect">
            <a:avLst/>
          </a:prstGeom>
          <a:solidFill>
            <a:srgbClr val="F4F7F7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81051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CURRENT NAAQS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84832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0.070 ppm (70 ppb), 8-hour — set 2015, retained 2020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3483864"/>
            <a:ext cx="5440680" cy="822960"/>
          </a:xfrm>
          <a:prstGeom prst="rect">
            <a:avLst/>
          </a:prstGeom>
          <a:solidFill>
            <a:srgbClr val="F4F7F7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60273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TCEQ VS. EPA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77056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TCEQ hourly ppb · EPA 8-hr max in ppm (convert × 0.001)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4379976"/>
            <a:ext cx="54406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4988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ATTAINMENT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731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To be determined by the analysis — not assumed 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5276088"/>
            <a:ext cx="5440680" cy="822960"/>
          </a:xfrm>
          <a:prstGeom prst="rect">
            <a:avLst/>
          </a:prstGeom>
          <a:solidFill>
            <a:srgbClr val="F4F7F7"/>
          </a:solidFill>
          <a:ln w="7620">
            <a:solidFill>
              <a:srgbClr val="C5D0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539496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5C66"/>
                </a:solidFill>
                <a:latin typeface="Calibri"/>
              </a:rPr>
              <a:t>DATA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A2E"/>
                </a:solidFill>
                <a:latin typeface="Calibri"/>
              </a:rPr>
              <a:t>TCEQ collects &amp; certifies → EPA AQS national 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2489</Words>
  <Application>Microsoft Office PowerPoint</Application>
  <PresentationFormat>Widescreen</PresentationFormat>
  <Paragraphs>274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Manasa Kuchavaram</dc:creator>
  <cp:keywords/>
  <dc:description>generated using python-pptx</dc:description>
  <cp:lastModifiedBy>Manasa Kuchavaram</cp:lastModifiedBy>
  <cp:revision>3</cp:revision>
  <dcterms:created xsi:type="dcterms:W3CDTF">2013-01-27T09:14:16Z</dcterms:created>
  <dcterms:modified xsi:type="dcterms:W3CDTF">2026-07-08T23:59:29Z</dcterms:modified>
  <cp:category/>
</cp:coreProperties>
</file>